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2B6E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6492240"/>
            <a:ext cx="111556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4B5563"/>
                </a:solidFill>
                <a:latin typeface="Microsoft YaHei"/>
              </a:defRPr>
            </a:pPr>
            <a:r>
              <a:t>SecAgent｜比赛提交材料｜01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2191695" cy="4160520"/>
          </a:xfrm>
          <a:prstGeom prst="rect">
            <a:avLst/>
          </a:prstGeom>
          <a:solidFill>
            <a:srgbClr val="123B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1645920"/>
            <a:ext cx="10515600" cy="1463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400" b="1">
                <a:solidFill>
                  <a:srgbClr val="FFFFFF"/>
                </a:solidFill>
                <a:latin typeface="Microsoft YaHei"/>
              </a:defRPr>
            </a:pPr>
            <a:r>
              <a:t>SecAgent</a:t>
            </a:r>
          </a:p>
          <a:p>
            <a:pPr>
              <a:defRPr sz="2800">
                <a:solidFill>
                  <a:srgbClr val="FFFFFF"/>
                </a:solidFill>
                <a:latin typeface="Microsoft YaHei"/>
              </a:defRPr>
            </a:pPr>
            <a:r>
              <a:t>具备自主决策能力的通用网络安全智能体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8680" y="3794760"/>
            <a:ext cx="987552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>
                <a:solidFill>
                  <a:srgbClr val="DCEBF7"/>
                </a:solidFill>
                <a:latin typeface="Microsoft YaHei"/>
              </a:defRPr>
            </a:pPr>
            <a:r>
              <a:t>从任务理解到证据可审计的安全执行闭环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8680" y="5669280"/>
            <a:ext cx="10058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>
                <a:solidFill>
                  <a:srgbClr val="4B5563"/>
                </a:solidFill>
                <a:latin typeface="Microsoft YaHei"/>
              </a:defRPr>
            </a:pPr>
            <a:r>
              <a:t>参赛作品材料｜版本与队伍信息请在最终冻结时填写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2B6E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6492240"/>
            <a:ext cx="111556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4B5563"/>
                </a:solidFill>
                <a:latin typeface="Microsoft YaHei"/>
              </a:defRPr>
            </a:pPr>
            <a:r>
              <a:t>SecAgent｜比赛提交材料｜02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384048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23B63"/>
                </a:solidFill>
                <a:latin typeface="Microsoft YaHei"/>
              </a:defRPr>
            </a:pPr>
            <a:r>
              <a:t>问题背景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188720"/>
            <a:ext cx="10789920" cy="4983480"/>
          </a:xfrm>
          <a:prstGeom prst="rect">
            <a:avLst/>
          </a:prstGeom>
          <a:noFill/>
        </p:spPr>
        <p:txBody>
          <a:bodyPr wrap="square" lIns="109728" rIns="109728" anchor="t">
            <a:spAutoFit/>
          </a:bodyPr>
          <a:lstStyle/>
          <a:p>
            <a:pPr>
              <a:spcAft>
                <a:spcPts val="1000"/>
              </a:spcAft>
              <a:defRPr sz="2000">
                <a:solidFill>
                  <a:srgbClr val="1F2937"/>
                </a:solidFill>
                <a:latin typeface="Microsoft YaHei"/>
              </a:defRPr>
            </a:pPr>
            <a:r>
              <a:t>安全任务输入复杂：目标异构、信息不完整、工具链复杂、结果可能矛盾。</a:t>
            </a:r>
          </a:p>
          <a:p>
            <a:pPr>
              <a:spcAft>
                <a:spcPts val="1000"/>
              </a:spcAft>
              <a:defRPr sz="2000">
                <a:solidFill>
                  <a:srgbClr val="1F2937"/>
                </a:solidFill>
                <a:latin typeface="Microsoft YaHei"/>
              </a:defRPr>
            </a:pPr>
            <a:r>
              <a:t>纯规则编排难以跨场景，纯对话 Agent 容易丢失授权边界、重复失败或把扫描信号当成漏洞结论。</a:t>
            </a:r>
          </a:p>
          <a:p>
            <a:pPr>
              <a:spcAft>
                <a:spcPts val="1000"/>
              </a:spcAft>
              <a:defRPr sz="2000">
                <a:solidFill>
                  <a:srgbClr val="1F2937"/>
                </a:solidFill>
                <a:latin typeface="Microsoft YaHei"/>
              </a:defRPr>
            </a:pPr>
            <a:r>
              <a:t>参赛目标：实现自主任务理解、多场景决策、受控执行、失败重规划和可审计交付。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2B6E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6492240"/>
            <a:ext cx="111556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4B5563"/>
                </a:solidFill>
                <a:latin typeface="Microsoft YaHei"/>
              </a:defRPr>
            </a:pPr>
            <a:r>
              <a:t>SecAgent｜比赛提交材料｜03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384048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23B63"/>
                </a:solidFill>
                <a:latin typeface="Microsoft YaHei"/>
              </a:defRPr>
            </a:pPr>
            <a:r>
              <a:t>方案目标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188720"/>
            <a:ext cx="10789920" cy="4983480"/>
          </a:xfrm>
          <a:prstGeom prst="rect">
            <a:avLst/>
          </a:prstGeom>
          <a:noFill/>
        </p:spPr>
        <p:txBody>
          <a:bodyPr wrap="square" lIns="109728" rIns="109728" anchor="t">
            <a:spAutoFit/>
          </a:bodyPr>
          <a:lstStyle/>
          <a:p>
            <a:pPr>
              <a:spcAft>
                <a:spcPts val="1000"/>
              </a:spcAft>
              <a:defRPr sz="2000">
                <a:solidFill>
                  <a:srgbClr val="1F2937"/>
                </a:solidFill>
                <a:latin typeface="Microsoft YaHei"/>
              </a:defRPr>
            </a:pPr>
            <a:r>
              <a:t>任务理解：将自然语言和附件转为 SecurityTaskSpec。</a:t>
            </a:r>
          </a:p>
          <a:p>
            <a:pPr>
              <a:spcAft>
                <a:spcPts val="1000"/>
              </a:spcAft>
              <a:defRPr sz="2000">
                <a:solidFill>
                  <a:srgbClr val="1F2937"/>
                </a:solidFill>
                <a:latin typeface="Microsoft YaHei"/>
              </a:defRPr>
            </a:pPr>
            <a:r>
              <a:t>安全决策：候选动作、计划、执行、证据、验证和重规划形成闭环。</a:t>
            </a:r>
          </a:p>
          <a:p>
            <a:pPr>
              <a:spcAft>
                <a:spcPts val="1000"/>
              </a:spcAft>
              <a:defRPr sz="2000">
                <a:solidFill>
                  <a:srgbClr val="1F2937"/>
                </a:solidFill>
                <a:latin typeface="Microsoft YaHei"/>
              </a:defRPr>
            </a:pPr>
            <a:r>
              <a:t>安全边界：显式 scope、strict/competition/autonomous 策略、隔离、预算和审计。</a:t>
            </a:r>
          </a:p>
          <a:p>
            <a:pPr>
              <a:spcAft>
                <a:spcPts val="1000"/>
              </a:spcAft>
              <a:defRPr sz="2000">
                <a:solidFill>
                  <a:srgbClr val="1F2937"/>
                </a:solidFill>
                <a:latin typeface="Microsoft YaHei"/>
              </a:defRPr>
            </a:pPr>
            <a:r>
              <a:t>工程交付：CLI、Web、Docker/Compose、报告和可重放评测。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2B6E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6492240"/>
            <a:ext cx="111556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4B5563"/>
                </a:solidFill>
                <a:latin typeface="Microsoft YaHei"/>
              </a:defRPr>
            </a:pPr>
            <a:r>
              <a:t>SecAgent｜比赛提交材料｜04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384048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23B63"/>
                </a:solidFill>
                <a:latin typeface="Microsoft YaHei"/>
              </a:defRPr>
            </a:pPr>
            <a:r>
              <a:t>产品形态：Coding / Sec 双 Profile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234440"/>
            <a:ext cx="5257800" cy="4800600"/>
          </a:xfrm>
          <a:prstGeom prst="roundRect">
            <a:avLst/>
          </a:prstGeom>
          <a:solidFill>
            <a:srgbClr val="EBF4FB"/>
          </a:solidFill>
          <a:ln>
            <a:solidFill>
              <a:srgbClr val="BED2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1481328"/>
            <a:ext cx="47548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900" b="1">
                <a:solidFill>
                  <a:srgbClr val="2B6EA6"/>
                </a:solidFill>
                <a:latin typeface="Microsoft YaHei"/>
              </a:defRPr>
            </a:pPr>
            <a:r>
              <a:t>Coding（默认）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96112" y="1920240"/>
            <a:ext cx="470916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>
                <a:solidFill>
                  <a:srgbClr val="1F2937"/>
                </a:solidFill>
                <a:latin typeface="Microsoft YaHei"/>
              </a:defRPr>
            </a:pPr>
            <a:r>
              <a:t>保留现有 Coding 行为</a:t>
            </a:r>
          </a:p>
          <a:p>
            <a:pPr>
              <a:spcAft>
                <a:spcPts val="800"/>
              </a:spcAft>
              <a:defRPr sz="1600">
                <a:solidFill>
                  <a:srgbClr val="1F2937"/>
                </a:solidFill>
                <a:latin typeface="Microsoft YaHei"/>
              </a:defRPr>
            </a:pPr>
            <a:r>
              <a:t>不加载 SecAgent 安全资源</a:t>
            </a:r>
          </a:p>
          <a:p>
            <a:pPr>
              <a:spcAft>
                <a:spcPts val="800"/>
              </a:spcAft>
              <a:defRPr sz="1600">
                <a:solidFill>
                  <a:srgbClr val="1F2937"/>
                </a:solidFill>
                <a:latin typeface="Microsoft YaHei"/>
              </a:defRPr>
            </a:pPr>
            <a:r>
              <a:t>兼容旧 Session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1234440"/>
            <a:ext cx="5257800" cy="4800600"/>
          </a:xfrm>
          <a:prstGeom prst="roundRect">
            <a:avLst/>
          </a:prstGeom>
          <a:solidFill>
            <a:srgbClr val="EBF4FB"/>
          </a:solidFill>
          <a:ln>
            <a:solidFill>
              <a:srgbClr val="BED2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46520" y="1481328"/>
            <a:ext cx="47548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900" b="1">
                <a:solidFill>
                  <a:srgbClr val="2B6EA6"/>
                </a:solidFill>
                <a:latin typeface="Microsoft YaHei"/>
              </a:defRPr>
            </a:pPr>
            <a:r>
              <a:t>Sec（显式启用）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73952" y="1920240"/>
            <a:ext cx="470916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>
                <a:solidFill>
                  <a:srgbClr val="1F2937"/>
                </a:solidFill>
                <a:latin typeface="Microsoft YaHei"/>
              </a:defRPr>
            </a:pPr>
            <a:r>
              <a:t>Session 模式持久化</a:t>
            </a:r>
          </a:p>
          <a:p>
            <a:pPr>
              <a:spcAft>
                <a:spcPts val="800"/>
              </a:spcAft>
              <a:defRPr sz="1600">
                <a:solidFill>
                  <a:srgbClr val="1F2937"/>
                </a:solidFill>
                <a:latin typeface="Microsoft YaHei"/>
              </a:defRPr>
            </a:pPr>
            <a:r>
              <a:t>安全 Runtime、工具和报告</a:t>
            </a:r>
          </a:p>
          <a:p>
            <a:pPr>
              <a:spcAft>
                <a:spcPts val="800"/>
              </a:spcAft>
              <a:defRPr sz="1600">
                <a:solidFill>
                  <a:srgbClr val="1F2937"/>
                </a:solidFill>
                <a:latin typeface="Microsoft YaHei"/>
              </a:defRPr>
            </a:pPr>
            <a:r>
              <a:t>模式切换创建同 cwd 空白 Session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2B6E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6492240"/>
            <a:ext cx="111556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4B5563"/>
                </a:solidFill>
                <a:latin typeface="Microsoft YaHei"/>
              </a:defRPr>
            </a:pPr>
            <a:r>
              <a:t>SecAgent｜比赛提交材料｜05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384048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23B63"/>
                </a:solidFill>
                <a:latin typeface="Microsoft YaHei"/>
              </a:defRPr>
            </a:pPr>
            <a:r>
              <a:t>总体架构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188720"/>
            <a:ext cx="10789920" cy="4983480"/>
          </a:xfrm>
          <a:prstGeom prst="rect">
            <a:avLst/>
          </a:prstGeom>
          <a:noFill/>
        </p:spPr>
        <p:txBody>
          <a:bodyPr wrap="square" lIns="109728" rIns="109728" anchor="t">
            <a:spAutoFit/>
          </a:bodyPr>
          <a:lstStyle/>
          <a:p>
            <a:pPr>
              <a:spcAft>
                <a:spcPts val="1000"/>
              </a:spcAft>
              <a:defRPr sz="2000">
                <a:solidFill>
                  <a:srgbClr val="1F2937"/>
                </a:solidFill>
                <a:latin typeface="Microsoft YaHei"/>
              </a:defRPr>
            </a:pPr>
            <a:r>
              <a:t>Pi Agent Harness：模型抽象、Agent Loop、AgentSession、扩展系统。</a:t>
            </a:r>
          </a:p>
          <a:p>
            <a:pPr>
              <a:spcAft>
                <a:spcPts val="1000"/>
              </a:spcAft>
              <a:defRPr sz="2000">
                <a:solidFill>
                  <a:srgbClr val="1F2937"/>
                </a:solidFill>
                <a:latin typeface="Microsoft YaHei"/>
              </a:defRPr>
            </a:pPr>
            <a:r>
              <a:t>Agent Profile：根据 Session 的 agentMode 装载 Coding 或 Sec 能力。</a:t>
            </a:r>
          </a:p>
          <a:p>
            <a:pPr>
              <a:spcAft>
                <a:spcPts val="1000"/>
              </a:spcAft>
              <a:defRPr sz="2000">
                <a:solidFill>
                  <a:srgbClr val="1F2937"/>
                </a:solidFill>
                <a:latin typeface="Microsoft YaHei"/>
              </a:defRPr>
            </a:pPr>
            <a:r>
              <a:t>SecAgentRuntime：任务、scope、策略、预算、决策、证据、审计和报告。</a:t>
            </a:r>
          </a:p>
          <a:p>
            <a:pPr>
              <a:spcAft>
                <a:spcPts val="1000"/>
              </a:spcAft>
              <a:defRPr sz="2000">
                <a:solidFill>
                  <a:srgbClr val="1F2937"/>
                </a:solidFill>
                <a:latin typeface="Microsoft YaHei"/>
              </a:defRPr>
            </a:pPr>
            <a:r>
              <a:t>Gateway/Adapters：统一管理工具发现、版本、参数、策略和结果归一化。</a:t>
            </a:r>
          </a:p>
          <a:p>
            <a:pPr>
              <a:spcAft>
                <a:spcPts val="1000"/>
              </a:spcAft>
              <a:defRPr sz="2000">
                <a:solidFill>
                  <a:srgbClr val="1F2937"/>
                </a:solidFill>
                <a:latin typeface="Microsoft YaHei"/>
              </a:defRPr>
            </a:pPr>
            <a:r>
              <a:t>Web/Report：通过 Profile snapshot 和 command 访问状态，不直接解析 Session 条目。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2B6E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6492240"/>
            <a:ext cx="111556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4B5563"/>
                </a:solidFill>
                <a:latin typeface="Microsoft YaHei"/>
              </a:defRPr>
            </a:pPr>
            <a:r>
              <a:t>SecAgent｜比赛提交材料｜06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384048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23B63"/>
                </a:solidFill>
                <a:latin typeface="Microsoft YaHei"/>
              </a:defRPr>
            </a:pPr>
            <a:r>
              <a:t>任务理解与输入安全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188720"/>
            <a:ext cx="10789920" cy="4983480"/>
          </a:xfrm>
          <a:prstGeom prst="rect">
            <a:avLst/>
          </a:prstGeom>
          <a:noFill/>
        </p:spPr>
        <p:txBody>
          <a:bodyPr wrap="square" lIns="109728" rIns="109728" anchor="t">
            <a:spAutoFit/>
          </a:bodyPr>
          <a:lstStyle/>
          <a:p>
            <a:pPr>
              <a:spcAft>
                <a:spcPts val="1000"/>
              </a:spcAft>
              <a:defRPr sz="2000">
                <a:solidFill>
                  <a:srgbClr val="1F2937"/>
                </a:solidFill>
                <a:latin typeface="Microsoft YaHei"/>
              </a:defRPr>
            </a:pPr>
            <a:r>
              <a:t>SecurityTaskSpec：goal、scenario、assets、constraints、successCriteria。</a:t>
            </a:r>
          </a:p>
          <a:p>
            <a:pPr>
              <a:spcAft>
                <a:spcPts val="1000"/>
              </a:spcAft>
              <a:defRPr sz="2000">
                <a:solidFill>
                  <a:srgbClr val="1F2937"/>
                </a:solidFill>
                <a:latin typeface="Microsoft YaHei"/>
              </a:defRPr>
            </a:pPr>
            <a:r>
              <a:t>授权信息单独记录：declaredAuthorization 与 pendingConfirmations。</a:t>
            </a:r>
          </a:p>
          <a:p>
            <a:pPr>
              <a:spcAft>
                <a:spcPts val="1000"/>
              </a:spcAft>
              <a:defRPr sz="2000">
                <a:solidFill>
                  <a:srgbClr val="1F2937"/>
                </a:solidFill>
                <a:latin typeface="Microsoft YaHei"/>
              </a:defRPr>
            </a:pPr>
            <a:r>
              <a:t>附件是任务输入，不是授权来源；压缩包进入临时隔离目录并限制大小、文件数、深度和符号链接。</a:t>
            </a:r>
          </a:p>
          <a:p>
            <a:pPr>
              <a:spcAft>
                <a:spcPts val="1000"/>
              </a:spcAft>
              <a:defRPr sz="2000">
                <a:solidFill>
                  <a:srgbClr val="1F2937"/>
                </a:solidFill>
                <a:latin typeface="Microsoft YaHei"/>
              </a:defRPr>
            </a:pPr>
            <a:r>
              <a:t>资产保存来源、摘要和 SHA-256，便于重放和报告关联。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2B6E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6492240"/>
            <a:ext cx="111556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4B5563"/>
                </a:solidFill>
                <a:latin typeface="Microsoft YaHei"/>
              </a:defRPr>
            </a:pPr>
            <a:r>
              <a:t>SecAgent｜比赛提交材料｜07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384048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23B63"/>
                </a:solidFill>
                <a:latin typeface="Microsoft YaHei"/>
              </a:defRPr>
            </a:pPr>
            <a:r>
              <a:t>自主决策闭环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188720"/>
            <a:ext cx="10789920" cy="4983480"/>
          </a:xfrm>
          <a:prstGeom prst="rect">
            <a:avLst/>
          </a:prstGeom>
          <a:noFill/>
        </p:spPr>
        <p:txBody>
          <a:bodyPr wrap="square" lIns="109728" rIns="109728" anchor="t">
            <a:spAutoFit/>
          </a:bodyPr>
          <a:lstStyle/>
          <a:p>
            <a:pPr>
              <a:spcAft>
                <a:spcPts val="1000"/>
              </a:spcAft>
              <a:defRPr sz="2000">
                <a:solidFill>
                  <a:srgbClr val="1F2937"/>
                </a:solidFill>
                <a:latin typeface="Microsoft YaHei"/>
              </a:defRPr>
            </a:pPr>
            <a:r>
              <a:t>Intake → Candidates → Planner → Gateway → Evidence</a:t>
            </a:r>
          </a:p>
          <a:p>
            <a:pPr>
              <a:spcAft>
                <a:spcPts val="1000"/>
              </a:spcAft>
              <a:defRPr sz="2000">
                <a:solidFill>
                  <a:srgbClr val="1F2937"/>
                </a:solidFill>
                <a:latin typeface="Microsoft YaHei"/>
              </a:defRPr>
            </a:pPr>
            <a:r>
              <a:t>Evidence → Verifier / Observer → Replanner → Report</a:t>
            </a:r>
          </a:p>
          <a:p>
            <a:pPr>
              <a:spcAft>
                <a:spcPts val="1000"/>
              </a:spcAft>
              <a:defRPr sz="2000">
                <a:solidFill>
                  <a:srgbClr val="1F2937"/>
                </a:solidFill>
                <a:latin typeface="Microsoft YaHei"/>
              </a:defRPr>
            </a:pPr>
            <a:r>
              <a:t>模型负责理解和提出候选；确定性内核负责边界、排序、执行接口、证据和状态。</a:t>
            </a:r>
          </a:p>
          <a:p>
            <a:pPr>
              <a:spcAft>
                <a:spcPts val="1000"/>
              </a:spcAft>
              <a:defRPr sz="2000">
                <a:solidFill>
                  <a:srgbClr val="1F2937"/>
                </a:solidFill>
                <a:latin typeface="Microsoft YaHei"/>
              </a:defRPr>
            </a:pPr>
            <a:r>
              <a:t>所有关键状态通过事件追加，可恢复、可审计、可重放。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2B6E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6492240"/>
            <a:ext cx="111556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4B5563"/>
                </a:solidFill>
                <a:latin typeface="Microsoft YaHei"/>
              </a:defRPr>
            </a:pPr>
            <a:r>
              <a:t>SecAgent｜比赛提交材料｜08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384048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23B63"/>
                </a:solidFill>
                <a:latin typeface="Microsoft YaHei"/>
              </a:defRPr>
            </a:pPr>
            <a:r>
              <a:t>工具适配与 Security Gateway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188720"/>
            <a:ext cx="10789920" cy="4983480"/>
          </a:xfrm>
          <a:prstGeom prst="rect">
            <a:avLst/>
          </a:prstGeom>
          <a:noFill/>
        </p:spPr>
        <p:txBody>
          <a:bodyPr wrap="square" lIns="109728" rIns="109728" anchor="t">
            <a:spAutoFit/>
          </a:bodyPr>
          <a:lstStyle/>
          <a:p>
            <a:pPr>
              <a:spcAft>
                <a:spcPts val="1000"/>
              </a:spcAft>
              <a:defRPr sz="2000">
                <a:solidFill>
                  <a:srgbClr val="1F2937"/>
                </a:solidFill>
                <a:latin typeface="Microsoft YaHei"/>
              </a:defRPr>
            </a:pPr>
            <a:r>
              <a:t>registry resolution → 版本和工具可用性检查 → 结构化参数校验。</a:t>
            </a:r>
          </a:p>
          <a:p>
            <a:pPr>
              <a:spcAft>
                <a:spcPts val="1000"/>
              </a:spcAft>
              <a:defRPr sz="2000">
                <a:solidFill>
                  <a:srgbClr val="1F2937"/>
                </a:solidFill>
                <a:latin typeface="Microsoft YaHei"/>
              </a:defRPr>
            </a:pPr>
            <a:r>
              <a:t>scope 检查 → risk/policy 判定 → budget 检查。</a:t>
            </a:r>
          </a:p>
          <a:p>
            <a:pPr>
              <a:spcAft>
                <a:spcPts val="1000"/>
              </a:spcAft>
              <a:defRPr sz="2000">
                <a:solidFill>
                  <a:srgbClr val="1F2937"/>
                </a:solidFill>
                <a:latin typeface="Microsoft YaHei"/>
              </a:defRPr>
            </a:pPr>
            <a:r>
              <a:t>adapter 执行 → 结果归一化 → evidence + audit。</a:t>
            </a:r>
          </a:p>
          <a:p>
            <a:pPr>
              <a:spcAft>
                <a:spcPts val="1000"/>
              </a:spcAft>
              <a:defRPr sz="2000">
                <a:solidFill>
                  <a:srgbClr val="1F2937"/>
                </a:solidFill>
                <a:latin typeface="Microsoft YaHei"/>
              </a:defRPr>
            </a:pPr>
            <a:r>
              <a:t>未知工具采用保守风险；模型不能直接调用未经登记的任意 Shell。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2B6E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6492240"/>
            <a:ext cx="111556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4B5563"/>
                </a:solidFill>
                <a:latin typeface="Microsoft YaHei"/>
              </a:defRPr>
            </a:pPr>
            <a:r>
              <a:t>SecAgent｜比赛提交材料｜09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384048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23B63"/>
                </a:solidFill>
                <a:latin typeface="Microsoft YaHei"/>
              </a:defRPr>
            </a:pPr>
            <a:r>
              <a:t>证据图与确认发现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188720"/>
            <a:ext cx="10789920" cy="4983480"/>
          </a:xfrm>
          <a:prstGeom prst="rect">
            <a:avLst/>
          </a:prstGeom>
          <a:noFill/>
        </p:spPr>
        <p:txBody>
          <a:bodyPr wrap="square" lIns="109728" rIns="109728" anchor="t">
            <a:spAutoFit/>
          </a:bodyPr>
          <a:lstStyle/>
          <a:p>
            <a:pPr>
              <a:spcAft>
                <a:spcPts val="1000"/>
              </a:spcAft>
              <a:defRPr sz="2000">
                <a:solidFill>
                  <a:srgbClr val="1F2937"/>
                </a:solidFill>
                <a:latin typeface="Microsoft YaHei"/>
              </a:defRPr>
            </a:pPr>
            <a:r>
              <a:t>观察结果不等于确认漏洞。</a:t>
            </a:r>
          </a:p>
          <a:p>
            <a:pPr>
              <a:spcAft>
                <a:spcPts val="1000"/>
              </a:spcAft>
              <a:defRPr sz="2000">
                <a:solidFill>
                  <a:srgbClr val="1F2937"/>
                </a:solidFill>
                <a:latin typeface="Microsoft YaHei"/>
              </a:defRPr>
            </a:pPr>
            <a:r>
              <a:t>证据节点保存来源、摘要、哈希、置信度、时间和关联决策。</a:t>
            </a:r>
          </a:p>
          <a:p>
            <a:pPr>
              <a:spcAft>
                <a:spcPts val="1000"/>
              </a:spcAft>
              <a:defRPr sz="2000">
                <a:solidFill>
                  <a:srgbClr val="1F2937"/>
                </a:solidFill>
                <a:latin typeface="Microsoft YaHei"/>
              </a:defRPr>
            </a:pPr>
            <a:r>
              <a:t>证据图支持 supports、contradicts、derived-from、duplicates、verifies。</a:t>
            </a:r>
          </a:p>
          <a:p>
            <a:pPr>
              <a:spcAft>
                <a:spcPts val="1000"/>
              </a:spcAft>
              <a:defRPr sz="2000">
                <a:solidFill>
                  <a:srgbClr val="1F2937"/>
                </a:solidFill>
                <a:latin typeface="Microsoft YaHei"/>
              </a:defRPr>
            </a:pPr>
            <a:r>
              <a:t>只有满足验证闸门的 finding 才能作为确认发现写入报告。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2B6E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6492240"/>
            <a:ext cx="111556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4B5563"/>
                </a:solidFill>
                <a:latin typeface="Microsoft YaHei"/>
              </a:defRPr>
            </a:pPr>
            <a:r>
              <a:t>SecAgent｜比赛提交材料｜10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384048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23B63"/>
                </a:solidFill>
                <a:latin typeface="Microsoft YaHei"/>
              </a:defRPr>
            </a:pPr>
            <a:r>
              <a:t>安全策略与不可绕过边界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234440"/>
            <a:ext cx="5257800" cy="4800600"/>
          </a:xfrm>
          <a:prstGeom prst="roundRect">
            <a:avLst/>
          </a:prstGeom>
          <a:solidFill>
            <a:srgbClr val="EBF4FB"/>
          </a:solidFill>
          <a:ln>
            <a:solidFill>
              <a:srgbClr val="BED2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1481328"/>
            <a:ext cx="47548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900" b="1">
                <a:solidFill>
                  <a:srgbClr val="2B6EA6"/>
                </a:solidFill>
                <a:latin typeface="Microsoft YaHei"/>
              </a:defRPr>
            </a:pPr>
            <a:r>
              <a:t>strict / competition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96112" y="1920240"/>
            <a:ext cx="470916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>
                <a:solidFill>
                  <a:srgbClr val="1F2937"/>
                </a:solidFill>
                <a:latin typeface="Microsoft YaHei"/>
              </a:defRPr>
            </a:pPr>
            <a:r>
              <a:t>scope 外动作阻断</a:t>
            </a:r>
          </a:p>
          <a:p>
            <a:pPr>
              <a:spcAft>
                <a:spcPts val="800"/>
              </a:spcAft>
              <a:defRPr sz="1600">
                <a:solidFill>
                  <a:srgbClr val="1F2937"/>
                </a:solidFill>
                <a:latin typeface="Microsoft YaHei"/>
              </a:defRPr>
            </a:pPr>
            <a:r>
              <a:t>P2/P3 按策略确认</a:t>
            </a:r>
          </a:p>
          <a:p>
            <a:pPr>
              <a:spcAft>
                <a:spcPts val="800"/>
              </a:spcAft>
              <a:defRPr sz="1600">
                <a:solidFill>
                  <a:srgbClr val="1F2937"/>
                </a:solidFill>
                <a:latin typeface="Microsoft YaHei"/>
              </a:defRPr>
            </a:pPr>
            <a:r>
              <a:t>适合日常和受控比赛操作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1234440"/>
            <a:ext cx="5257800" cy="4800600"/>
          </a:xfrm>
          <a:prstGeom prst="roundRect">
            <a:avLst/>
          </a:prstGeom>
          <a:solidFill>
            <a:srgbClr val="EBF4FB"/>
          </a:solidFill>
          <a:ln>
            <a:solidFill>
              <a:srgbClr val="BED2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46520" y="1481328"/>
            <a:ext cx="47548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900" b="1">
                <a:solidFill>
                  <a:srgbClr val="2B6EA6"/>
                </a:solidFill>
                <a:latin typeface="Microsoft YaHei"/>
              </a:defRPr>
            </a:pPr>
            <a:r>
              <a:t>autonomous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73952" y="1920240"/>
            <a:ext cx="470916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>
                <a:solidFill>
                  <a:srgbClr val="1F2937"/>
                </a:solidFill>
                <a:latin typeface="Microsoft YaHei"/>
              </a:defRPr>
            </a:pPr>
            <a:r>
              <a:t>需要真实隔离和一次性授权</a:t>
            </a:r>
          </a:p>
          <a:p>
            <a:pPr>
              <a:spcAft>
                <a:spcPts val="800"/>
              </a:spcAft>
              <a:defRPr sz="1600">
                <a:solidFill>
                  <a:srgbClr val="1F2937"/>
                </a:solidFill>
                <a:latin typeface="Microsoft YaHei"/>
              </a:defRPr>
            </a:pPr>
            <a:r>
              <a:t>scope 越界保留高危告警</a:t>
            </a:r>
          </a:p>
          <a:p>
            <a:pPr>
              <a:spcAft>
                <a:spcPts val="800"/>
              </a:spcAft>
              <a:defRPr sz="1600">
                <a:solidFill>
                  <a:srgbClr val="1F2937"/>
                </a:solidFill>
                <a:latin typeface="Microsoft YaHei"/>
              </a:defRPr>
            </a:pPr>
            <a:r>
              <a:t>OS、凭证、预算和审计不可关闭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2B6E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6492240"/>
            <a:ext cx="111556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4B5563"/>
                </a:solidFill>
                <a:latin typeface="Microsoft YaHei"/>
              </a:defRPr>
            </a:pPr>
            <a:r>
              <a:t>SecAgent｜比赛提交材料｜11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384048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23B63"/>
                </a:solidFill>
                <a:latin typeface="Microsoft YaHei"/>
              </a:defRPr>
            </a:pPr>
            <a:r>
              <a:t>专业 Agent 协同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188720"/>
            <a:ext cx="10789920" cy="4983480"/>
          </a:xfrm>
          <a:prstGeom prst="rect">
            <a:avLst/>
          </a:prstGeom>
          <a:noFill/>
        </p:spPr>
        <p:txBody>
          <a:bodyPr wrap="square" lIns="109728" rIns="109728" anchor="t">
            <a:spAutoFit/>
          </a:bodyPr>
          <a:lstStyle/>
          <a:p>
            <a:pPr>
              <a:spcAft>
                <a:spcPts val="1000"/>
              </a:spcAft>
              <a:defRPr sz="2000">
                <a:solidFill>
                  <a:srgbClr val="1F2937"/>
                </a:solidFill>
                <a:latin typeface="Microsoft YaHei"/>
              </a:defRPr>
            </a:pPr>
            <a:r>
              <a:t>sec-recon：范围内资产和网络信息收集。</a:t>
            </a:r>
          </a:p>
          <a:p>
            <a:pPr>
              <a:spcAft>
                <a:spcPts val="1000"/>
              </a:spcAft>
              <a:defRPr sz="2000">
                <a:solidFill>
                  <a:srgbClr val="1F2937"/>
                </a:solidFill>
                <a:latin typeface="Microsoft YaHei"/>
              </a:defRPr>
            </a:pPr>
            <a:r>
              <a:t>sec-web：HTTP、Web 枚举和验证。</a:t>
            </a:r>
          </a:p>
          <a:p>
            <a:pPr>
              <a:spcAft>
                <a:spcPts val="1000"/>
              </a:spcAft>
              <a:defRPr sz="2000">
                <a:solidFill>
                  <a:srgbClr val="1F2937"/>
                </a:solidFill>
                <a:latin typeface="Microsoft YaHei"/>
              </a:defRPr>
            </a:pPr>
            <a:r>
              <a:t>sec-analysis / sec-vuln：结构化分析和漏洞研究。</a:t>
            </a:r>
          </a:p>
          <a:p>
            <a:pPr>
              <a:spcAft>
                <a:spcPts val="1000"/>
              </a:spcAft>
              <a:defRPr sz="2000">
                <a:solidFill>
                  <a:srgbClr val="1F2937"/>
                </a:solidFill>
                <a:latin typeface="Microsoft YaHei"/>
              </a:defRPr>
            </a:pPr>
            <a:r>
              <a:t>sec-response：事件响应、证据关联和报告。</a:t>
            </a:r>
          </a:p>
          <a:p>
            <a:pPr>
              <a:spcAft>
                <a:spcPts val="1000"/>
              </a:spcAft>
              <a:defRPr sz="2000">
                <a:solidFill>
                  <a:srgbClr val="1F2937"/>
                </a:solidFill>
                <a:latin typeface="Microsoft YaHei"/>
              </a:defRPr>
            </a:pPr>
            <a:r>
              <a:t>sec-reverse：二进制、字符串、节区和反汇编分析。</a:t>
            </a:r>
          </a:p>
          <a:p>
            <a:pPr>
              <a:spcAft>
                <a:spcPts val="1000"/>
              </a:spcAft>
              <a:defRPr sz="2000">
                <a:solidFill>
                  <a:srgbClr val="1F2937"/>
                </a:solidFill>
                <a:latin typeface="Microsoft YaHei"/>
              </a:defRPr>
            </a:pPr>
            <a:r>
              <a:t>每个子 Agent 受工具白名单、目标、轮次、时间、并发和预算约束，主 Agent 保持最终决策权。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2B6E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6492240"/>
            <a:ext cx="111556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4B5563"/>
                </a:solidFill>
                <a:latin typeface="Microsoft YaHei"/>
              </a:defRPr>
            </a:pPr>
            <a:r>
              <a:t>SecAgent｜比赛提交材料｜12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384048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23B63"/>
                </a:solidFill>
                <a:latin typeface="Microsoft YaHei"/>
              </a:defRPr>
            </a:pPr>
            <a:r>
              <a:t>比赛场景覆盖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234440"/>
            <a:ext cx="5257800" cy="4800600"/>
          </a:xfrm>
          <a:prstGeom prst="roundRect">
            <a:avLst/>
          </a:prstGeom>
          <a:solidFill>
            <a:srgbClr val="EBF4FB"/>
          </a:solidFill>
          <a:ln>
            <a:solidFill>
              <a:srgbClr val="BED2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1481328"/>
            <a:ext cx="47548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900" b="1">
                <a:solidFill>
                  <a:srgbClr val="2B6EA6"/>
                </a:solidFill>
                <a:latin typeface="Microsoft YaHei"/>
              </a:defRPr>
            </a:pPr>
            <a:r>
              <a:t>五类受控场景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96112" y="1920240"/>
            <a:ext cx="470916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>
                <a:solidFill>
                  <a:srgbClr val="1F2937"/>
                </a:solidFill>
                <a:latin typeface="Microsoft YaHei"/>
              </a:defRPr>
            </a:pPr>
            <a:r>
              <a:t>Web：HTTP fixture、scope 和验证</a:t>
            </a:r>
          </a:p>
          <a:p>
            <a:pPr>
              <a:spcAft>
                <a:spcPts val="800"/>
              </a:spcAft>
              <a:defRPr sz="1600">
                <a:solidFill>
                  <a:srgbClr val="1F2937"/>
                </a:solidFill>
                <a:latin typeface="Microsoft YaHei"/>
              </a:defRPr>
            </a:pPr>
            <a:r>
              <a:t>Pwn：ELF 哈希、缓解措施、静态分析</a:t>
            </a:r>
          </a:p>
          <a:p>
            <a:pPr>
              <a:spcAft>
                <a:spcPts val="800"/>
              </a:spcAft>
              <a:defRPr sz="1600">
                <a:solidFill>
                  <a:srgbClr val="1F2937"/>
                </a:solidFill>
                <a:latin typeface="Microsoft YaHei"/>
              </a:defRPr>
            </a:pPr>
            <a:r>
              <a:t>Reverse：strings/readelf/objdump</a:t>
            </a:r>
          </a:p>
          <a:p>
            <a:pPr>
              <a:spcAft>
                <a:spcPts val="800"/>
              </a:spcAft>
              <a:defRPr sz="1600">
                <a:solidFill>
                  <a:srgbClr val="1F2937"/>
                </a:solidFill>
                <a:latin typeface="Microsoft YaHei"/>
              </a:defRPr>
            </a:pPr>
            <a:r>
              <a:t>Forensics：元数据和签名证据</a:t>
            </a:r>
          </a:p>
          <a:p>
            <a:pPr>
              <a:spcAft>
                <a:spcPts val="800"/>
              </a:spcAft>
              <a:defRPr sz="1600">
                <a:solidFill>
                  <a:srgbClr val="1F2937"/>
                </a:solidFill>
                <a:latin typeface="Microsoft YaHei"/>
              </a:defRPr>
            </a:pPr>
            <a:r>
              <a:t>Killchain：多阶段失败重规划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1234440"/>
            <a:ext cx="5257800" cy="4800600"/>
          </a:xfrm>
          <a:prstGeom prst="roundRect">
            <a:avLst/>
          </a:prstGeom>
          <a:solidFill>
            <a:srgbClr val="EBF4FB"/>
          </a:solidFill>
          <a:ln>
            <a:solidFill>
              <a:srgbClr val="BED2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46520" y="1481328"/>
            <a:ext cx="47548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900" b="1">
                <a:solidFill>
                  <a:srgbClr val="2B6EA6"/>
                </a:solidFill>
                <a:latin typeface="Microsoft YaHei"/>
              </a:defRPr>
            </a:pPr>
            <a:r>
              <a:t>比赛证据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73952" y="1920240"/>
            <a:ext cx="470916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>
                <a:solidFill>
                  <a:srgbClr val="1F2937"/>
                </a:solidFill>
                <a:latin typeface="Microsoft YaHei"/>
              </a:defRPr>
            </a:pPr>
            <a:r>
              <a:t>工具调用审计</a:t>
            </a:r>
          </a:p>
          <a:p>
            <a:pPr>
              <a:spcAft>
                <a:spcPts val="800"/>
              </a:spcAft>
              <a:defRPr sz="1600">
                <a:solidFill>
                  <a:srgbClr val="1F2937"/>
                </a:solidFill>
                <a:latin typeface="Microsoft YaHei"/>
              </a:defRPr>
            </a:pPr>
            <a:r>
              <a:t>证据和验证关联</a:t>
            </a:r>
          </a:p>
          <a:p>
            <a:pPr>
              <a:spcAft>
                <a:spcPts val="800"/>
              </a:spcAft>
              <a:defRPr sz="1600">
                <a:solidFill>
                  <a:srgbClr val="1F2937"/>
                </a:solidFill>
                <a:latin typeface="Microsoft YaHei"/>
              </a:defRPr>
            </a:pPr>
            <a:r>
              <a:t>失败 decision 与 replan</a:t>
            </a:r>
          </a:p>
          <a:p>
            <a:pPr>
              <a:spcAft>
                <a:spcPts val="800"/>
              </a:spcAft>
              <a:defRPr sz="1600">
                <a:solidFill>
                  <a:srgbClr val="1F2937"/>
                </a:solidFill>
                <a:latin typeface="Microsoft YaHei"/>
              </a:defRPr>
            </a:pPr>
            <a:r>
              <a:t>报告和状态可重建</a:t>
            </a:r>
          </a:p>
          <a:p>
            <a:pPr>
              <a:spcAft>
                <a:spcPts val="800"/>
              </a:spcAft>
              <a:defRPr sz="1600">
                <a:solidFill>
                  <a:srgbClr val="1F2937"/>
                </a:solidFill>
                <a:latin typeface="Microsoft YaHei"/>
              </a:defRPr>
            </a:pPr>
            <a:r>
              <a:t>仅使用 loopback、一次性容器或明确授权目标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2B6E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6492240"/>
            <a:ext cx="111556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4B5563"/>
                </a:solidFill>
                <a:latin typeface="Microsoft YaHei"/>
              </a:defRPr>
            </a:pPr>
            <a:r>
              <a:t>SecAgent｜比赛提交材料｜13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384048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23B63"/>
                </a:solidFill>
                <a:latin typeface="Microsoft YaHei"/>
              </a:defRPr>
            </a:pPr>
            <a:r>
              <a:t>Web 安全工作区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188720"/>
            <a:ext cx="10789920" cy="4983480"/>
          </a:xfrm>
          <a:prstGeom prst="rect">
            <a:avLst/>
          </a:prstGeom>
          <a:noFill/>
        </p:spPr>
        <p:txBody>
          <a:bodyPr wrap="square" lIns="109728" rIns="109728" anchor="t">
            <a:spAutoFit/>
          </a:bodyPr>
          <a:lstStyle/>
          <a:p>
            <a:pPr>
              <a:spcAft>
                <a:spcPts val="1000"/>
              </a:spcAft>
              <a:defRPr sz="2000">
                <a:solidFill>
                  <a:srgbClr val="1F2937"/>
                </a:solidFill>
                <a:latin typeface="Microsoft YaHei"/>
              </a:defRPr>
            </a:pPr>
            <a:r>
              <a:t>任务和阶段：显示当前 SecurityTaskSpec、执行阶段和成功条件。</a:t>
            </a:r>
          </a:p>
          <a:p>
            <a:pPr>
              <a:spcAft>
                <a:spcPts val="1000"/>
              </a:spcAft>
              <a:defRPr sz="2000">
                <a:solidFill>
                  <a:srgbClr val="1F2937"/>
                </a:solidFill>
                <a:latin typeface="Microsoft YaHei"/>
              </a:defRPr>
            </a:pPr>
            <a:r>
              <a:t>scope、策略和隔离：通过结构化 API 修改，不通过聊天间接修改。</a:t>
            </a:r>
          </a:p>
          <a:p>
            <a:pPr>
              <a:spcAft>
                <a:spcPts val="1000"/>
              </a:spcAft>
              <a:defRPr sz="2000">
                <a:solidFill>
                  <a:srgbClr val="1F2937"/>
                </a:solidFill>
                <a:latin typeface="Microsoft YaHei"/>
              </a:defRPr>
            </a:pPr>
            <a:r>
              <a:t>证据、假设、发现、决策和工具审计：共享同一 Profile Runtime。</a:t>
            </a:r>
          </a:p>
          <a:p>
            <a:pPr>
              <a:spcAft>
                <a:spcPts val="1000"/>
              </a:spcAft>
              <a:defRPr sz="2000">
                <a:solidFill>
                  <a:srgbClr val="1F2937"/>
                </a:solidFill>
                <a:latin typeface="Microsoft YaHei"/>
              </a:defRPr>
            </a:pPr>
            <a:r>
              <a:t>支持中文/英文界面、SSE 更新、重连恢复以及 Markdown/JSON 报告下载。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2B6E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6492240"/>
            <a:ext cx="111556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4B5563"/>
                </a:solidFill>
                <a:latin typeface="Microsoft YaHei"/>
              </a:defRPr>
            </a:pPr>
            <a:r>
              <a:t>SecAgent｜比赛提交材料｜14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384048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23B63"/>
                </a:solidFill>
                <a:latin typeface="Microsoft YaHei"/>
              </a:defRPr>
            </a:pPr>
            <a:r>
              <a:t>失败驱动重规划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188720"/>
            <a:ext cx="10789920" cy="4983480"/>
          </a:xfrm>
          <a:prstGeom prst="rect">
            <a:avLst/>
          </a:prstGeom>
          <a:noFill/>
        </p:spPr>
        <p:txBody>
          <a:bodyPr wrap="square" lIns="109728" rIns="109728" anchor="t">
            <a:spAutoFit/>
          </a:bodyPr>
          <a:lstStyle/>
          <a:p>
            <a:pPr>
              <a:spcAft>
                <a:spcPts val="1000"/>
              </a:spcAft>
              <a:defRPr sz="2000">
                <a:solidFill>
                  <a:srgbClr val="1F2937"/>
                </a:solidFill>
                <a:latin typeface="Microsoft YaHei"/>
              </a:defRPr>
            </a:pPr>
            <a:r>
              <a:t>注入一次受控工具失败。</a:t>
            </a:r>
          </a:p>
          <a:p>
            <a:pPr>
              <a:spcAft>
                <a:spcPts val="1000"/>
              </a:spcAft>
              <a:defRPr sz="2000">
                <a:solidFill>
                  <a:srgbClr val="1F2937"/>
                </a:solidFill>
                <a:latin typeface="Microsoft YaHei"/>
              </a:defRPr>
            </a:pPr>
            <a:r>
              <a:t>记录失败原因、工具、输入摘要和 decision ID。</a:t>
            </a:r>
          </a:p>
          <a:p>
            <a:pPr>
              <a:spcAft>
                <a:spcPts val="1000"/>
              </a:spcAft>
              <a:defRPr sz="2000">
                <a:solidFill>
                  <a:srgbClr val="1F2937"/>
                </a:solidFill>
                <a:latin typeface="Microsoft YaHei"/>
              </a:defRPr>
            </a:pPr>
            <a:r>
              <a:t>Observer 识别停滞或失败，Replanner 创建新 revision。</a:t>
            </a:r>
          </a:p>
          <a:p>
            <a:pPr>
              <a:spcAft>
                <a:spcPts val="1000"/>
              </a:spcAft>
              <a:defRPr sz="2000">
                <a:solidFill>
                  <a:srgbClr val="1F2937"/>
                </a:solidFill>
                <a:latin typeface="Microsoft YaHei"/>
              </a:defRPr>
            </a:pPr>
            <a:r>
              <a:t>替换能力路径而不是无条件重复同一动作。</a:t>
            </a:r>
          </a:p>
          <a:p>
            <a:pPr>
              <a:spcAft>
                <a:spcPts val="1000"/>
              </a:spcAft>
              <a:defRPr sz="2000">
                <a:solidFill>
                  <a:srgbClr val="1F2937"/>
                </a:solidFill>
                <a:latin typeface="Microsoft YaHei"/>
              </a:defRPr>
            </a:pPr>
            <a:r>
              <a:t>最终报告同时展示失败、重规划原因、证据和预算变化。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2B6E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6492240"/>
            <a:ext cx="111556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4B5563"/>
                </a:solidFill>
                <a:latin typeface="Microsoft YaHei"/>
              </a:defRPr>
            </a:pPr>
            <a:r>
              <a:t>SecAgent｜比赛提交材料｜15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384048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23B63"/>
                </a:solidFill>
                <a:latin typeface="Microsoft YaHei"/>
              </a:defRPr>
            </a:pPr>
            <a:r>
              <a:t>部署与运维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188720"/>
            <a:ext cx="10789920" cy="4983480"/>
          </a:xfrm>
          <a:prstGeom prst="rect">
            <a:avLst/>
          </a:prstGeom>
          <a:noFill/>
        </p:spPr>
        <p:txBody>
          <a:bodyPr wrap="square" lIns="109728" rIns="109728" anchor="t">
            <a:spAutoFit/>
          </a:bodyPr>
          <a:lstStyle/>
          <a:p>
            <a:pPr>
              <a:spcAft>
                <a:spcPts val="1000"/>
              </a:spcAft>
              <a:defRPr sz="2000">
                <a:solidFill>
                  <a:srgbClr val="1F2937"/>
                </a:solidFill>
                <a:latin typeface="Microsoft YaHei"/>
              </a:defRPr>
            </a:pPr>
            <a:r>
              <a:t>Node.js 22、四个固定 Sec runtime package 和固定 Debian 安全工具版本。</a:t>
            </a:r>
          </a:p>
          <a:p>
            <a:pPr>
              <a:spcAft>
                <a:spcPts val="1000"/>
              </a:spcAft>
              <a:defRPr sz="2000">
                <a:solidFill>
                  <a:srgbClr val="1F2937"/>
                </a:solidFill>
                <a:latin typeface="Microsoft YaHei"/>
              </a:defRPr>
            </a:pPr>
            <a:r>
              <a:t>WSL 正式开发环境推荐 Linux ext4；/mnt/* 仅适合临时开发。</a:t>
            </a:r>
          </a:p>
          <a:p>
            <a:pPr>
              <a:spcAft>
                <a:spcPts val="1000"/>
              </a:spcAft>
              <a:defRPr sz="2000">
                <a:solidFill>
                  <a:srgbClr val="1F2937"/>
                </a:solidFill>
                <a:latin typeface="Microsoft YaHei"/>
              </a:defRPr>
            </a:pPr>
            <a:r>
              <a:t>Docker 根文件系统只读、最小挂载、no-new-privileges、内部网络和 loopback 发布。</a:t>
            </a:r>
          </a:p>
          <a:p>
            <a:pPr>
              <a:spcAft>
                <a:spcPts val="1000"/>
              </a:spcAft>
              <a:defRPr sz="2000">
                <a:solidFill>
                  <a:srgbClr val="1F2937"/>
                </a:solidFill>
                <a:latin typeface="Microsoft YaHei"/>
              </a:defRPr>
            </a:pPr>
            <a:r>
              <a:t>模型 API、AI 网关和凭证通过配置注入，不写入镜像和仓库。</a:t>
            </a:r>
          </a:p>
          <a:p>
            <a:pPr>
              <a:spcAft>
                <a:spcPts val="1000"/>
              </a:spcAft>
              <a:defRPr sz="2000">
                <a:solidFill>
                  <a:srgbClr val="1F2937"/>
                </a:solidFill>
                <a:latin typeface="Microsoft YaHei"/>
              </a:defRPr>
            </a:pPr>
            <a:r>
              <a:t>生产 Web 配合持久 Session 目录、健康检查和进程监督。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2B6E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6492240"/>
            <a:ext cx="111556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4B5563"/>
                </a:solidFill>
                <a:latin typeface="Microsoft YaHei"/>
              </a:defRPr>
            </a:pPr>
            <a:r>
              <a:t>SecAgent｜比赛提交材料｜16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384048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23B63"/>
                </a:solidFill>
                <a:latin typeface="Microsoft YaHei"/>
              </a:defRPr>
            </a:pPr>
            <a:r>
              <a:t>测试与证据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188720"/>
            <a:ext cx="10789920" cy="4983480"/>
          </a:xfrm>
          <a:prstGeom prst="rect">
            <a:avLst/>
          </a:prstGeom>
          <a:noFill/>
        </p:spPr>
        <p:txBody>
          <a:bodyPr wrap="square" lIns="109728" rIns="109728" anchor="t">
            <a:spAutoFit/>
          </a:bodyPr>
          <a:lstStyle/>
          <a:p>
            <a:pPr>
              <a:spcAft>
                <a:spcPts val="1000"/>
              </a:spcAft>
              <a:defRPr sz="2000">
                <a:solidFill>
                  <a:srgbClr val="1F2937"/>
                </a:solidFill>
                <a:latin typeface="Microsoft YaHei"/>
              </a:defRPr>
            </a:pPr>
            <a:r>
              <a:t>当前实测：SecAgent 85 通过 / 3 跳过；Web UI 611 通过。</a:t>
            </a:r>
          </a:p>
          <a:p>
            <a:pPr>
              <a:spcAft>
                <a:spcPts val="1000"/>
              </a:spcAft>
              <a:defRPr sz="2000">
                <a:solidFill>
                  <a:srgbClr val="1F2937"/>
                </a:solidFill>
                <a:latin typeface="Microsoft YaHei"/>
              </a:defRPr>
            </a:pPr>
            <a:r>
              <a:t>受控五场景：5/5 通过；受控任务理解、工具调用、失败重规划和证据验证覆盖率均为 100%。</a:t>
            </a:r>
          </a:p>
          <a:p>
            <a:pPr>
              <a:spcAft>
                <a:spcPts val="1000"/>
              </a:spcAft>
              <a:defRPr sz="2000">
                <a:solidFill>
                  <a:srgbClr val="1F2937"/>
                </a:solidFill>
                <a:latin typeface="Microsoft YaHei"/>
              </a:defRPr>
            </a:pPr>
            <a:r>
              <a:t>统一指标绑定输入哈希、Git commit、Node 版本、Session/report ID 和日志哈希。</a:t>
            </a:r>
          </a:p>
          <a:p>
            <a:pPr>
              <a:spcAft>
                <a:spcPts val="1000"/>
              </a:spcAft>
              <a:defRPr sz="2000">
                <a:solidFill>
                  <a:srgbClr val="1F2937"/>
                </a:solidFill>
                <a:latin typeface="Microsoft YaHei"/>
              </a:defRPr>
            </a:pPr>
            <a:r>
              <a:t>容器真实工具验收仍待完成：当前 Debian 软件源/包体网络不稳定，不能填写为通过。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2B6E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6492240"/>
            <a:ext cx="111556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4B5563"/>
                </a:solidFill>
                <a:latin typeface="Microsoft YaHei"/>
              </a:defRPr>
            </a:pPr>
            <a:r>
              <a:t>SecAgent｜比赛提交材料｜17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384048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23B63"/>
                </a:solidFill>
                <a:latin typeface="Microsoft YaHei"/>
              </a:defRPr>
            </a:pPr>
            <a:r>
              <a:t>现场演示流程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188720"/>
            <a:ext cx="10789920" cy="4983480"/>
          </a:xfrm>
          <a:prstGeom prst="rect">
            <a:avLst/>
          </a:prstGeom>
          <a:noFill/>
        </p:spPr>
        <p:txBody>
          <a:bodyPr wrap="square" lIns="109728" rIns="109728" anchor="t">
            <a:spAutoFit/>
          </a:bodyPr>
          <a:lstStyle/>
          <a:p>
            <a:pPr>
              <a:spcAft>
                <a:spcPts val="1000"/>
              </a:spcAft>
              <a:defRPr sz="2000">
                <a:solidFill>
                  <a:srgbClr val="1F2937"/>
                </a:solidFill>
                <a:latin typeface="Microsoft YaHei"/>
              </a:defRPr>
            </a:pPr>
            <a:r>
              <a:t>创建 Sec Session → 运行 /sec-doctor → 设置 scope 和 competition 策略。</a:t>
            </a:r>
          </a:p>
          <a:p>
            <a:pPr>
              <a:spcAft>
                <a:spcPts val="1000"/>
              </a:spcAft>
              <a:defRPr sz="2000">
                <a:solidFill>
                  <a:srgbClr val="1F2937"/>
                </a:solidFill>
                <a:latin typeface="Microsoft YaHei"/>
              </a:defRPr>
            </a:pPr>
            <a:r>
              <a:t>执行 security_intake → security_candidates → security_plan。</a:t>
            </a:r>
          </a:p>
          <a:p>
            <a:pPr>
              <a:spcAft>
                <a:spcPts val="1000"/>
              </a:spcAft>
              <a:defRPr sz="2000">
                <a:solidFill>
                  <a:srgbClr val="1F2937"/>
                </a:solidFill>
                <a:latin typeface="Microsoft YaHei"/>
              </a:defRPr>
            </a:pPr>
            <a:r>
              <a:t>运行受控 Web/Pwn/Reverse/Forensics/Killchain 场景。</a:t>
            </a:r>
          </a:p>
          <a:p>
            <a:pPr>
              <a:spcAft>
                <a:spcPts val="1000"/>
              </a:spcAft>
              <a:defRPr sz="2000">
                <a:solidFill>
                  <a:srgbClr val="1F2937"/>
                </a:solidFill>
                <a:latin typeface="Microsoft YaHei"/>
              </a:defRPr>
            </a:pPr>
            <a:r>
              <a:t>观察证据、决策、审计和失败后的 replan。</a:t>
            </a:r>
          </a:p>
          <a:p>
            <a:pPr>
              <a:spcAft>
                <a:spcPts val="1000"/>
              </a:spcAft>
              <a:defRPr sz="2000">
                <a:solidFill>
                  <a:srgbClr val="1F2937"/>
                </a:solidFill>
                <a:latin typeface="Microsoft YaHei"/>
              </a:defRPr>
            </a:pPr>
            <a:r>
              <a:t>下载 Markdown/JSON 报告，并展示 Session 恢复和中英文界面。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2B6E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6492240"/>
            <a:ext cx="111556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4B5563"/>
                </a:solidFill>
                <a:latin typeface="Microsoft YaHei"/>
              </a:defRPr>
            </a:pPr>
            <a:r>
              <a:t>SecAgent｜比赛提交材料｜18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384048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23B63"/>
                </a:solidFill>
                <a:latin typeface="Microsoft YaHei"/>
              </a:defRPr>
            </a:pPr>
            <a:r>
              <a:t>效果、限制与后续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188720"/>
            <a:ext cx="10789920" cy="4983480"/>
          </a:xfrm>
          <a:prstGeom prst="rect">
            <a:avLst/>
          </a:prstGeom>
          <a:noFill/>
        </p:spPr>
        <p:txBody>
          <a:bodyPr wrap="square" lIns="109728" rIns="109728" anchor="t">
            <a:spAutoFit/>
          </a:bodyPr>
          <a:lstStyle/>
          <a:p>
            <a:pPr>
              <a:spcAft>
                <a:spcPts val="1000"/>
              </a:spcAft>
              <a:defRPr sz="2000">
                <a:solidFill>
                  <a:srgbClr val="1F2937"/>
                </a:solidFill>
                <a:latin typeface="Microsoft YaHei"/>
              </a:defRPr>
            </a:pPr>
            <a:r>
              <a:t>可量化：任务理解、动作有效、工具调用、重规划、证据验证、耗时和预算。</a:t>
            </a:r>
          </a:p>
          <a:p>
            <a:pPr>
              <a:spcAft>
                <a:spcPts val="1000"/>
              </a:spcAft>
              <a:defRPr sz="2000">
                <a:solidFill>
                  <a:srgbClr val="1F2937"/>
                </a:solidFill>
                <a:latin typeface="Microsoft YaHei"/>
              </a:defRPr>
            </a:pPr>
            <a:r>
              <a:t>限制：模型非确定性、工具版本差异、复杂协议覆盖和在线网络延迟。</a:t>
            </a:r>
          </a:p>
          <a:p>
            <a:pPr>
              <a:spcAft>
                <a:spcPts val="1000"/>
              </a:spcAft>
              <a:defRPr sz="2000">
                <a:solidFill>
                  <a:srgbClr val="1F2937"/>
                </a:solidFill>
                <a:latin typeface="Microsoft YaHei"/>
              </a:defRPr>
            </a:pPr>
            <a:r>
              <a:t>受控 benchmark 不等于官方比赛成绩；真实工具、容器和在线指标必须单独测量。</a:t>
            </a:r>
          </a:p>
          <a:p>
            <a:pPr>
              <a:spcAft>
                <a:spcPts val="1000"/>
              </a:spcAft>
              <a:defRPr sz="2000">
                <a:solidFill>
                  <a:srgbClr val="1F2937"/>
                </a:solidFill>
                <a:latin typeface="Microsoft YaHei"/>
              </a:defRPr>
            </a:pPr>
            <a:r>
              <a:t>后续：完成容器闭环、真实 loopback 工具场景、Web 长任务恢复和最终交付封包。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2B6E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6492240"/>
            <a:ext cx="111556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4B5563"/>
                </a:solidFill>
                <a:latin typeface="Microsoft YaHei"/>
              </a:defRPr>
            </a:pPr>
            <a:r>
              <a:t>SecAgent｜比赛提交材料｜19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384048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23B63"/>
                </a:solidFill>
                <a:latin typeface="Microsoft YaHei"/>
              </a:defRPr>
            </a:pPr>
            <a:r>
              <a:t>总结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188720"/>
            <a:ext cx="10789920" cy="4983480"/>
          </a:xfrm>
          <a:prstGeom prst="rect">
            <a:avLst/>
          </a:prstGeom>
          <a:noFill/>
        </p:spPr>
        <p:txBody>
          <a:bodyPr wrap="square" lIns="109728" rIns="109728" anchor="t">
            <a:spAutoFit/>
          </a:bodyPr>
          <a:lstStyle/>
          <a:p>
            <a:pPr>
              <a:spcAft>
                <a:spcPts val="1000"/>
              </a:spcAft>
              <a:defRPr sz="2000">
                <a:solidFill>
                  <a:srgbClr val="1F2937"/>
                </a:solidFill>
                <a:latin typeface="Microsoft YaHei"/>
              </a:defRPr>
            </a:pPr>
            <a:r>
              <a:t>SecAgent 将网络安全智能体的自主性约束在可授权、可解释、可验证、可审计和可恢复的执行闭环内。</a:t>
            </a:r>
          </a:p>
          <a:p>
            <a:pPr>
              <a:spcAft>
                <a:spcPts val="1000"/>
              </a:spcAft>
              <a:defRPr sz="2000">
                <a:solidFill>
                  <a:srgbClr val="1F2937"/>
                </a:solidFill>
                <a:latin typeface="Microsoft YaHei"/>
              </a:defRPr>
            </a:pPr>
            <a:r>
              <a:t>交付入口：完整源代码、Docker/Compose、CLI/Web、测试报告、技术报告、用户手册和演示材料。</a:t>
            </a:r>
          </a:p>
          <a:p>
            <a:pPr>
              <a:spcAft>
                <a:spcPts val="1000"/>
              </a:spcAft>
              <a:defRPr sz="2000">
                <a:solidFill>
                  <a:srgbClr val="1F2937"/>
                </a:solidFill>
                <a:latin typeface="Microsoft YaHei"/>
              </a:defRPr>
            </a:pPr>
            <a:r>
              <a:t>最终版本需补充：队伍信息、Git commit、镜像 digest、在线地址、正式 PPT/视频和签署声明。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